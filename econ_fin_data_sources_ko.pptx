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91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83986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(yfinance overview and quick start)
- https://fred.stlouisfed.org/docs/api/fred/ (FRED API overview)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52A8F-FA2B-41FE-E105-3CAAB05FC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13BF2-70B8-7BD4-046C-49B566F356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C646C-C02D-08B9-52FE-328BEEDE6D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 (FRED API for macro series)
- https://pandas-datareader.readthedocs.io/en/latest/readers/stooq.html (Stooq reader for historical prices)
- https://ranaroussi.github.io/yfinance/ (yfinance supports yf.download and yf.Ticker)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EA026-AA06-E913-5A8F-7993FEAF7A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43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https://fred.stlouisfed.org/docs/api/fred/series_observations.html (FRED observations endpoint)
- https://pandas-datareader.readthedocs.io/en/latest/ (pandas-datareader get_data_fred quick start)
- https://github.com/mortada/fredapi (fredapi returns pandas Series/DataFrame)
- https://pandas-datareader.readthedocs.io/en/latest/readers/stooq.html (Stooq reader)
- https://ranaroussi.github.io/yfinance/ (yf.download and yf.Ticker examples)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https://fred.stlouisfed.org/docs/api/fred/series_observations.html (endpoint + parameters like series_id, file_type, observation_start)
- https://fred.stlouisfed.org/docs/api/fred/ (FRED API overview)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https://pandas-datareader.readthedocs.io/en/latest/ (Quick Start shows get_data_fred)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https://github.com/mortada/fredapi (fredapi returns pandas Series/DataFrame; supports ALFRED/vintages)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https://pandas-datareader.readthedocs.io/en/latest/readers/stooq.html (StooqDailyReader returns historical stock prices; parameters and notes)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(quick start shows yf.download and notes yfinance is not affiliated with Yahoo)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https://ranaroussi.github.io/yfinance/ (quick start demonstrates yf.Ticker methods and yf.download)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https://github.com/mortada/fredapi (notes on revisions/vintages via ALFRED)
- https://ranaroussi.github.io/yfinance/ (yfinance is not affiliated with Yahoo; intended for research/educational; quick start)
- https://pandas-datareader.readthedocs.io/en/latest/readers/stooq.html (Stooq reader)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00887" y="17145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경제와 재무 데이터 불러오기</a:t>
            </a:r>
            <a:endParaRPr lang="en-US" sz="4400" b="1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Fetching Economic &amp; Financial Data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77240" y="2971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FRED, fredapi, Stooq, </a:t>
            </a:r>
            <a:r>
              <a:rPr lang="en-US" sz="20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</a:t>
            </a:r>
            <a:r>
              <a:rPr lang="ko-KR" alt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활용하는 실용적 예제를 보여줌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49040"/>
            <a:ext cx="3840480" cy="50292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3858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• Prices • Fundamentals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FB01A-F842-6B6B-C1FD-B3C2A70A4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064129D-13AC-1D65-C233-4FC549AF8A0F}"/>
              </a:ext>
            </a:extLst>
          </p:cNvPr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467833-F5C3-FDDB-A4EE-1BFA720F52B7}"/>
              </a:ext>
            </a:extLst>
          </p:cNvPr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dirty="0">
                <a:solidFill>
                  <a:schemeClr val="bg2"/>
                </a:solidFill>
              </a:rPr>
              <a:t>프로들이 사용하는 분석 데이터</a:t>
            </a:r>
            <a:endParaRPr lang="en-US" sz="2200" dirty="0">
              <a:solidFill>
                <a:schemeClr val="bg2"/>
              </a:solidFill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FF240D4-08DA-8F65-78E0-9A02E0784E40}"/>
              </a:ext>
            </a:extLst>
          </p:cNvPr>
          <p:cNvSpPr/>
          <p:nvPr/>
        </p:nvSpPr>
        <p:spPr>
          <a:xfrm>
            <a:off x="548640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36AD10-BE60-1EBF-7391-0C70180A23D7}"/>
              </a:ext>
            </a:extLst>
          </p:cNvPr>
          <p:cNvSpPr/>
          <p:nvPr/>
        </p:nvSpPr>
        <p:spPr>
          <a:xfrm>
            <a:off x="777240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150F57C-3F29-15F8-7716-D9748250CE4B}"/>
              </a:ext>
            </a:extLst>
          </p:cNvPr>
          <p:cNvSpPr/>
          <p:nvPr/>
        </p:nvSpPr>
        <p:spPr>
          <a:xfrm>
            <a:off x="777240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1EF222E-512D-05D7-FECF-C467294B28D3}"/>
              </a:ext>
            </a:extLst>
          </p:cNvPr>
          <p:cNvSpPr/>
          <p:nvPr/>
        </p:nvSpPr>
        <p:spPr>
          <a:xfrm>
            <a:off x="777240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0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매크로 경제 시리즈</a:t>
            </a:r>
            <a:endParaRPr lang="en-US"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48085F8-8681-1D7E-192E-6C97BFE0A025}"/>
              </a:ext>
            </a:extLst>
          </p:cNvPr>
          <p:cNvSpPr/>
          <p:nvPr/>
        </p:nvSpPr>
        <p:spPr>
          <a:xfrm>
            <a:off x="777240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이자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, CPI, GDP,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고용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스프레드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dirty="0"/>
              <a:t> 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WRMFNS   </a:t>
            </a:r>
            <a:r>
              <a:rPr lang="en-US" sz="1400" dirty="0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 # </a:t>
            </a:r>
            <a:r>
              <a:rPr lang="ko-KR" altLang="en-US" sz="1400" dirty="0" err="1">
                <a:solidFill>
                  <a:srgbClr val="002060"/>
                </a:solidFill>
                <a:latin typeface="Calibri" pitchFamily="34" charset="0"/>
                <a:cs typeface="Calibri" pitchFamily="34" charset="-120"/>
              </a:rPr>
              <a:t>머니마켓</a:t>
            </a:r>
            <a:endParaRPr lang="en-US" sz="1400" dirty="0">
              <a:solidFill>
                <a:srgbClr val="002060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RRPONTSYD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# </a:t>
            </a:r>
            <a:r>
              <a:rPr lang="ko-KR" altLang="en-US" sz="1400" dirty="0" err="1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역환매조건부거래</a:t>
            </a:r>
            <a:endParaRPr lang="en-US" sz="1400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M2SL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# M2 </a:t>
            </a:r>
            <a:r>
              <a:rPr lang="ko-KR" alt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통화공급</a:t>
            </a:r>
            <a:endParaRPr lang="en-US" sz="1400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TOTRESNS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# </a:t>
            </a:r>
            <a:r>
              <a:rPr lang="ko-KR" alt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은행준비금</a:t>
            </a:r>
            <a:endParaRPr lang="en-US" sz="1400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 BAMLH0A0HYM2 </a:t>
            </a:r>
            <a:r>
              <a:rPr 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# </a:t>
            </a:r>
            <a:r>
              <a:rPr lang="ko-KR" altLang="en-US" sz="14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스프레드</a:t>
            </a:r>
            <a:endParaRPr lang="en-US" sz="1400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endParaRPr lang="en-US" sz="16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E485169-7688-38C8-43E9-23D0D538B343}"/>
              </a:ext>
            </a:extLst>
          </p:cNvPr>
          <p:cNvSpPr/>
          <p:nvPr/>
        </p:nvSpPr>
        <p:spPr>
          <a:xfrm>
            <a:off x="4361688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3E31B4-F773-F17E-7122-CF3B58FCAF29}"/>
              </a:ext>
            </a:extLst>
          </p:cNvPr>
          <p:cNvSpPr/>
          <p:nvPr/>
        </p:nvSpPr>
        <p:spPr>
          <a:xfrm>
            <a:off x="4590288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454C30-535D-1B40-3808-B07B06B68B7F}"/>
              </a:ext>
            </a:extLst>
          </p:cNvPr>
          <p:cNvSpPr/>
          <p:nvPr/>
        </p:nvSpPr>
        <p:spPr>
          <a:xfrm>
            <a:off x="4590288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0676BEE-3934-A6AA-D631-1C94669AD8EF}"/>
              </a:ext>
            </a:extLst>
          </p:cNvPr>
          <p:cNvSpPr/>
          <p:nvPr/>
        </p:nvSpPr>
        <p:spPr>
          <a:xfrm>
            <a:off x="4590288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prices (OHLCV)</a:t>
            </a:r>
            <a:endParaRPr lang="en-US" sz="20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A507BE4-1889-C1F2-AE72-8B62D057B48A}"/>
              </a:ext>
            </a:extLst>
          </p:cNvPr>
          <p:cNvSpPr/>
          <p:nvPr/>
        </p:nvSpPr>
        <p:spPr>
          <a:xfrm>
            <a:off x="4590288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인덱스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FX, commodity 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Stooq (via pandas-datareader) or yf.download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신속하게 </a:t>
            </a:r>
            <a:r>
              <a:rPr lang="ko-KR" alt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백테스팅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할 수 있는 데이터</a:t>
            </a:r>
            <a:endParaRPr lang="en-US"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5769794-3A2E-B714-C66B-DADA3FC5BD5B}"/>
              </a:ext>
            </a:extLst>
          </p:cNvPr>
          <p:cNvSpPr/>
          <p:nvPr/>
        </p:nvSpPr>
        <p:spPr>
          <a:xfrm>
            <a:off x="8174736" y="1143000"/>
            <a:ext cx="3584448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EE6ED8E5-F3EE-8C3E-24B1-8343B4EB9203}"/>
              </a:ext>
            </a:extLst>
          </p:cNvPr>
          <p:cNvSpPr/>
          <p:nvPr/>
        </p:nvSpPr>
        <p:spPr>
          <a:xfrm>
            <a:off x="8403336" y="1371600"/>
            <a:ext cx="2011680" cy="320040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D1F00F6-55C5-7993-374C-367606663A64}"/>
              </a:ext>
            </a:extLst>
          </p:cNvPr>
          <p:cNvSpPr/>
          <p:nvPr/>
        </p:nvSpPr>
        <p:spPr>
          <a:xfrm>
            <a:off x="8403336" y="1417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C0B958C5-73CB-89A6-0184-A9F85C8EB9FA}"/>
              </a:ext>
            </a:extLst>
          </p:cNvPr>
          <p:cNvSpPr/>
          <p:nvPr/>
        </p:nvSpPr>
        <p:spPr>
          <a:xfrm>
            <a:off x="8403336" y="1801368"/>
            <a:ext cx="31272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fundamentals</a:t>
            </a:r>
            <a:endParaRPr lang="en-US" sz="20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5773711-0EB4-75ED-4CA2-08F8D187C7EE}"/>
              </a:ext>
            </a:extLst>
          </p:cNvPr>
          <p:cNvSpPr/>
          <p:nvPr/>
        </p:nvSpPr>
        <p:spPr>
          <a:xfrm>
            <a:off x="8403336" y="2286000"/>
            <a:ext cx="3127248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각종 비율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yf.Ticker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는 단일 회사에 대해 </a:t>
            </a:r>
            <a:r>
              <a:rPr lang="ko-KR" alt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심도있게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분석할 때 유효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장점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주식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회사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 관해 다양한 정보를 얻고자 할 때 유용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E2049CE-BE7C-33AD-37BF-7C0DEA67F804}"/>
              </a:ext>
            </a:extLst>
          </p:cNvPr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no single provider covers everything — combine sources by domain.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9339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1109167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1672" cy="54864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92608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49640" y="1234440"/>
            <a:ext cx="0" cy="38404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85800" y="1371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623560" y="137160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0" y="1371600"/>
            <a:ext cx="2816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78308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85800" y="1892808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(official API)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63240" y="1892808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time series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1892808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+ flexible parameters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686800" y="1892808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key; you parse JSON yourself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2441448"/>
            <a:ext cx="110916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8640" y="2441448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5800" y="2551176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pandas-datareader: get_data_fred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63240" y="2551176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time series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23560" y="2551176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One-liner to DataFrame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686800" y="2551176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control than raw API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099816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5800" y="3209544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fredapi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063240" y="3209544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+ vintage support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23560" y="3209544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Convenient methods; returns pandas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686800" y="3209544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depends on FRED API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3758184"/>
            <a:ext cx="11091672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" y="3758184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867912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Stooq (via pandas-datareader)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063240" y="3867912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historical prices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23560" y="3867912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Free; good for backtests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686800" y="3867912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official market data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4416552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85800" y="4526280"/>
            <a:ext cx="21031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 (yf.download / yf.Ticker)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063240" y="4526280"/>
            <a:ext cx="22860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+ fundamentals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623560" y="4526280"/>
            <a:ext cx="27889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research workflows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86800" y="4526280"/>
            <a:ext cx="2816352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Unofficial; may rate-limit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548640" y="5074920"/>
            <a:ext cx="11091672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macro → FRED; bulk prices → yf.download/Stooq; single-stock deep dive → yf.Ticker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 (official API): maximum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b="1" dirty="0">
                <a:solidFill>
                  <a:srgbClr val="0F172A"/>
                </a:solidFill>
                <a:latin typeface="Calibri" pitchFamily="34" charset="0"/>
                <a:cs typeface="Calibri" pitchFamily="34" charset="-120"/>
              </a:rPr>
              <a:t>활용의 근거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공식적인 매크로 데이터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(rates, CPI, GDP, etc.)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파라미터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재시도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ko-KR" altLang="en-US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캐싱을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할 수 있는 장점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/>
              <a:t>다수의 시리즈 데이터를 받을 수 있음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(pandas + requests)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FRED_API_KEY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"FRED_API_KEY"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fred_series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series_id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str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url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"https://api.stlouisfed.org/fred/series/observations"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requests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params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={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"series_id"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series_id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"api_key"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FRED_API_KEY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"file_type"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"json"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"observation_start"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timeout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raise_for_status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obs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"observations"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"value"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index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to_datetime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"date"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name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series_id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to_numeric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errors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"coerce"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fred_series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production ETL, bulk fetchers, custom caching.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“fred” via pandas-datareader: fastest one-liner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800" dirty="0"/>
              <a:t>왜 사용</a:t>
            </a:r>
            <a:r>
              <a:rPr lang="en-US" altLang="ko-KR" sz="1800" dirty="0"/>
              <a:t>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매크로 데이터를 </a:t>
            </a:r>
            <a:r>
              <a:rPr lang="en-US" altLang="ko-KR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으로 만들 수 있음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notebooks, demos, and lightweight scripts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간단한 프로그램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,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노트북 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PC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으로 데모용으로 활용가능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 제공하는 동일한 변수 사용가능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GS10, DGS10, CPIAUCSL)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(pandas_datareader)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pandas_datareader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10-year constant maturity yield (example series)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DataReader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"fred"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3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3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quick charts + prototypes. Less control than raw API.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fredapi: convenient wrapper (plus ALFRED support)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Fred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이용하는 가장 간단한 방법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시리즈와 </a:t>
            </a:r>
            <a:r>
              <a:rPr lang="en-US" altLang="ko-KR" sz="160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직접 제공</a:t>
            </a:r>
            <a:endParaRPr lang="en-US" altLang="ko-KR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(fredapi → pandas)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os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fredapi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fred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api_key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getenv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"FRED_API_KEY"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fred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get_series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observation_start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"2000-01-01"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Series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"DGS10"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to_datetime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dgs10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research workflows, revision-aware analysis.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Stooq: free historical OHLCV (via pandas-datareader)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무료로 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for stocks/indices/FX/commodities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를 제공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없이 사용가능</a:t>
            </a:r>
            <a:endParaRPr lang="en-US" sz="1600" dirty="0">
              <a:solidFill>
                <a:srgbClr val="11182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최신 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-&gt;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과거의 순서로 </a:t>
            </a:r>
            <a:r>
              <a:rPr lang="ko-KR" altLang="en-US" sz="1600" dirty="0" err="1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정열하여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 제공</a:t>
            </a:r>
            <a:endParaRPr lang="en-US" altLang="ko-KR" sz="1600" dirty="0">
              <a:solidFill>
                <a:srgbClr val="111827"/>
              </a:solidFill>
              <a:latin typeface="Calibri" pitchFamily="34" charset="0"/>
              <a:cs typeface="Calibri" pitchFamily="34" charset="-120"/>
            </a:endParaRP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일부에서는 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Yahoo Finance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보다 신뢰성이 높다고 주장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(Stooq reader)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pandas_datareader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data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# Stooq tickers often look like "aapl.us"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web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DataReader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"aapl.us"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"stooq"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start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"2020-01-01"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df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sort_index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chronological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2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</a:t>
            </a:r>
            <a:r>
              <a:rPr lang="en-US" sz="12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"Open"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"High"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"Low"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"Volume"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]].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2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for: backtests, educational demos, quick OHLCV.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yfinance: yf.download for bulk price history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한번에 다수의 주식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(or ticker)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에 대해 데이터를 다운 받는 데는 최적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주식을 비교하는 데 좋음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포트폴리오 구성을 하는 데 분석에 유용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(multi-ticker prices)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pandas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yfinance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download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tickers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"MSFT"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start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"2020-01-01"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auto_adjust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group_by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"ticker"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progress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DataFrame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"AAPL"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"MSFT"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raw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"MSFT"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dropna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"all"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yfinance is an open-source wrapper around publicly available Yahoo data.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yfinance: yf.Ticker for fundamentals + statements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029200" cy="493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주식을 깊게 분석할 때 유용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metadata + 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재무제표</a:t>
            </a: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하나의 주식에 대해 여러 정보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(endpoints)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추출하고자 할 때 유용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52160" y="1143000"/>
            <a:ext cx="5788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(one ticker, many datasets)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52160" y="1527048"/>
            <a:ext cx="5788152" cy="4965192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  <a:effectLst>
            <a:outerShdw blurRad="25400" dist="1905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80760" y="1645920"/>
            <a:ext cx="5330952" cy="4709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yfinance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yf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Ticker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"AAPL"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# Price history (pandas DataFrame)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"2y"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auto_adjust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AE81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)[[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"Close"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"Volume"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]]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# Financial statements (DataFrames)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income_stmt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balance_sheet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cashflow 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cashflow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px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tail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1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100" dirty="0">
                <a:solidFill>
                  <a:srgbClr val="66D9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income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1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for many tickers, prefer yf.download; for one ticker, prefer yf.Ticker.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155448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tips (what your audience will thank you for)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5623560" cy="53492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 to mention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521208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데이터 추출 제한 횟수에 걸려서 추출에 제한일 걸릴 수 있음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cs typeface="Calibri" pitchFamily="34" charset="-120"/>
              </a:rPr>
              <a:t>.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주가에 대해 시간대와 날짜를 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할 필요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매크로 데이터는 항상 수정이 됨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vintage-aware tool</a:t>
            </a:r>
            <a:r>
              <a:rPr lang="ko-KR" alt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 사용할 것 </a:t>
            </a:r>
            <a:r>
              <a:rPr lang="en-US" altLang="ko-KR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600" dirty="0"/>
              <a:t>ALFRED (Archival FRED))</a:t>
            </a:r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ko-KR" altLang="en-US" sz="1600" dirty="0"/>
              <a:t>반복적으로 사용하는 데이터는 캐쉬를 할 것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143000"/>
            <a:ext cx="5239512" cy="5349240"/>
          </a:xfrm>
          <a:prstGeom prst="roundRect">
            <a:avLst/>
          </a:prstGeom>
          <a:solidFill>
            <a:srgbClr val="0B1021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75120" y="14173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decision 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ko-KR" alt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매크로 데이터가 필요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→  FRED API / fredapi / pdr.get_data_fred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ko-KR" alt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다수회사의 주식</a:t>
            </a:r>
            <a:r>
              <a:rPr lang="en-US" altLang="ko-KR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필요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→  yf.download (or Stooq)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ko-KR" alt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회사의 주식 데이터가 필요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→  yf.Ticker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ko-KR" alt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재호출이 필요</a:t>
            </a: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 →  cache + pin package versions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6565392"/>
            <a:ext cx="11155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message: pick sources by “macro vs prices vs fundamentals”, then wrap with pandas + caching.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</TotalTime>
  <Words>2025</Words>
  <Application>Microsoft Office PowerPoint</Application>
  <PresentationFormat>Widescreen</PresentationFormat>
  <Paragraphs>132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ChatGPT</dc:creator>
  <cp:lastModifiedBy>HR Yu</cp:lastModifiedBy>
  <cp:revision>13</cp:revision>
  <dcterms:created xsi:type="dcterms:W3CDTF">2026-02-18T03:58:06Z</dcterms:created>
  <dcterms:modified xsi:type="dcterms:W3CDTF">2026-02-19T10:24:41Z</dcterms:modified>
</cp:coreProperties>
</file>